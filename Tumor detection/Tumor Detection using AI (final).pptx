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embeddedFontLst>
    <p:embeddedFont>
      <p:font typeface="Maven Pro" panose="020B0604020202020204" charset="0"/>
      <p:regular r:id="rId17"/>
      <p:bold r:id="rId18"/>
    </p:embeddedFont>
    <p:embeddedFont>
      <p:font typeface="Nunito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BE553DB-CADC-4A70-93E6-18CDC00BD427}">
  <a:tblStyle styleId="{5BE553DB-CADC-4A70-93E6-18CDC00BD42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yan Jadhav" userId="0805aa7eeb042b0f" providerId="LiveId" clId="{EBA538F2-6F02-4CBE-888B-B4E821B35625}"/>
    <pc:docChg chg="modSld sldOrd">
      <pc:chgData name="Aryan Jadhav" userId="0805aa7eeb042b0f" providerId="LiveId" clId="{EBA538F2-6F02-4CBE-888B-B4E821B35625}" dt="2023-03-01T17:48:15.630" v="2" actId="20577"/>
      <pc:docMkLst>
        <pc:docMk/>
      </pc:docMkLst>
      <pc:sldChg chg="ord modNotes">
        <pc:chgData name="Aryan Jadhav" userId="0805aa7eeb042b0f" providerId="LiveId" clId="{EBA538F2-6F02-4CBE-888B-B4E821B35625}" dt="2023-03-01T17:07:08.710" v="1"/>
        <pc:sldMkLst>
          <pc:docMk/>
          <pc:sldMk cId="0" sldId="259"/>
        </pc:sldMkLst>
      </pc:sldChg>
      <pc:sldChg chg="modSp mod">
        <pc:chgData name="Aryan Jadhav" userId="0805aa7eeb042b0f" providerId="LiveId" clId="{EBA538F2-6F02-4CBE-888B-B4E821B35625}" dt="2023-03-01T17:48:15.630" v="2" actId="20577"/>
        <pc:sldMkLst>
          <pc:docMk/>
          <pc:sldMk cId="0" sldId="261"/>
        </pc:sldMkLst>
        <pc:spChg chg="mod">
          <ac:chgData name="Aryan Jadhav" userId="0805aa7eeb042b0f" providerId="LiveId" clId="{EBA538F2-6F02-4CBE-888B-B4E821B35625}" dt="2023-03-01T17:48:15.630" v="2" actId="20577"/>
          <ac:spMkLst>
            <pc:docMk/>
            <pc:sldMk cId="0" sldId="261"/>
            <ac:spMk id="30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7d4bd650b2c8a9c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7d4bd650b2c8a9c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a8d408cff2_0_12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a8d408cff2_0_12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a8d408cff2_0_1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a8d408cff2_0_1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1a8d408cff2_0_1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1a8d408cff2_0_1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a8d408cff2_0_1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1a8d408cff2_0_1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ab2d4c2cf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ab2d4c2cf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a8d408cff2_0_1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1a8d408cff2_0_1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1a8d408cff2_0_1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1a8d408cff2_0_1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1a8d408cff2_0_1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1a8d408cff2_0_12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1a8d408cff2_0_1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1a8d408cff2_0_1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a8f31ad552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1a8f31ad552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1a8d408cff2_0_1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1a8d408cff2_0_12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1ab2d4c2cf0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1ab2d4c2cf0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3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name="adj1" fmla="val 8244818"/>
                  <a:gd name="adj2" fmla="val 16246175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name="adj1" fmla="val 8801158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name="adj1" fmla="val 1255410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2"/>
          <p:cNvSpPr txBox="1">
            <a:spLocks noGrp="1"/>
          </p:cNvSpPr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2"/>
          <p:cNvSpPr txBox="1">
            <a:spLocks noGrp="1"/>
          </p:cNvSpPr>
          <p:nvPr>
            <p:ph type="subTitle" idx="1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2" name="Google Shape;82;p3"/>
          <p:cNvSpPr txBox="1">
            <a:spLocks noGrp="1"/>
          </p:cNvSpPr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3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" name="Google Shape;88;p4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0" name="Google Shape;90;p4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5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5"/>
          <p:cNvSpPr txBox="1">
            <a:spLocks noGrp="1"/>
          </p:cNvSpPr>
          <p:nvPr>
            <p:ph type="body" idx="2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5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6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6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" name="Google Shape;109;p7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7"/>
          <p:cNvSpPr txBox="1">
            <a:spLocks noGrp="1"/>
          </p:cNvSpPr>
          <p:nvPr>
            <p:ph type="body" idx="1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7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5" name="Google Shape;125;p8"/>
          <p:cNvSpPr txBox="1">
            <a:spLocks noGrp="1"/>
          </p:cNvSpPr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8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9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body" idx="2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9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" name="Google Shape;139;p10"/>
          <p:cNvSpPr txBox="1">
            <a:spLocks noGrp="1"/>
          </p:cNvSpPr>
          <p:nvPr>
            <p:ph type="body" idx="1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40" name="Google Shape;140;p10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8" name="Google Shape;268;p11"/>
          <p:cNvSpPr txBox="1">
            <a:spLocks noGrp="1"/>
          </p:cNvSpPr>
          <p:nvPr>
            <p:ph type="title" hasCustomPrompt="1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>
            <a:spLocks noGrp="1"/>
          </p:cNvSpPr>
          <p:nvPr>
            <p:ph type="body" idx="1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0" name="Google Shape;270;p1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mentu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>
            <a:spLocks noGrp="1"/>
          </p:cNvSpPr>
          <p:nvPr>
            <p:ph type="ctrTitle"/>
          </p:nvPr>
        </p:nvSpPr>
        <p:spPr>
          <a:xfrm>
            <a:off x="468650" y="828238"/>
            <a:ext cx="42555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Tumor Detection using AI</a:t>
            </a:r>
            <a:endParaRPr/>
          </a:p>
        </p:txBody>
      </p:sp>
      <p:sp>
        <p:nvSpPr>
          <p:cNvPr id="278" name="Google Shape;278;p13"/>
          <p:cNvSpPr txBox="1">
            <a:spLocks noGrp="1"/>
          </p:cNvSpPr>
          <p:nvPr>
            <p:ph type="subTitle" idx="1"/>
          </p:nvPr>
        </p:nvSpPr>
        <p:spPr>
          <a:xfrm>
            <a:off x="430448" y="2972400"/>
            <a:ext cx="4255500" cy="15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By : Aryan Jadhav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Soham Bhosage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Ganraj Kendre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Varnan Dhondage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>
            <a:spLocks noGrp="1"/>
          </p:cNvSpPr>
          <p:nvPr>
            <p:ph type="title"/>
          </p:nvPr>
        </p:nvSpPr>
        <p:spPr>
          <a:xfrm>
            <a:off x="527600" y="271250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Contents</a:t>
            </a:r>
            <a:endParaRPr/>
          </a:p>
        </p:txBody>
      </p:sp>
      <p:graphicFrame>
        <p:nvGraphicFramePr>
          <p:cNvPr id="284" name="Google Shape;284;p14"/>
          <p:cNvGraphicFramePr/>
          <p:nvPr/>
        </p:nvGraphicFramePr>
        <p:xfrm>
          <a:off x="3006300" y="1135690"/>
          <a:ext cx="3268225" cy="3809750"/>
        </p:xfrm>
        <a:graphic>
          <a:graphicData uri="http://schemas.openxmlformats.org/drawingml/2006/table">
            <a:tbl>
              <a:tblPr>
                <a:noFill/>
                <a:tableStyleId>{5BE553DB-CADC-4A70-93E6-18CDC00BD427}</a:tableStyleId>
              </a:tblPr>
              <a:tblGrid>
                <a:gridCol w="43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09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dk2"/>
                          </a:solidFill>
                        </a:rPr>
                        <a:t>1.</a:t>
                      </a:r>
                      <a:endParaRPr sz="13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Introduction</a:t>
                      </a: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9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2.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Need of Project</a:t>
                      </a: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9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3.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dirty="0"/>
                        <a:t>Problem definition</a:t>
                      </a:r>
                      <a:endParaRPr sz="13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9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4.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dirty="0"/>
                        <a:t>Proposed methodology</a:t>
                      </a:r>
                      <a:endParaRPr sz="13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9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5.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System Architecture</a:t>
                      </a: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9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6.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Resources Required</a:t>
                      </a: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9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7.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ER Diagram</a:t>
                      </a: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09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8.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Use Case Diagram</a:t>
                      </a: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09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9.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Activity Diagram</a:t>
                      </a: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09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10.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dirty="0"/>
                        <a:t>DFD Diagram</a:t>
                      </a:r>
                      <a:endParaRPr sz="13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>
            <a:spLocks noGrp="1"/>
          </p:cNvSpPr>
          <p:nvPr>
            <p:ph type="title"/>
          </p:nvPr>
        </p:nvSpPr>
        <p:spPr>
          <a:xfrm>
            <a:off x="518250" y="224500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</a:t>
            </a:r>
            <a:endParaRPr/>
          </a:p>
        </p:txBody>
      </p:sp>
      <p:sp>
        <p:nvSpPr>
          <p:cNvPr id="296" name="Google Shape;296;p16"/>
          <p:cNvSpPr txBox="1">
            <a:spLocks noGrp="1"/>
          </p:cNvSpPr>
          <p:nvPr>
            <p:ph type="body" idx="1"/>
          </p:nvPr>
        </p:nvSpPr>
        <p:spPr>
          <a:xfrm>
            <a:off x="1098050" y="1870375"/>
            <a:ext cx="7030500" cy="278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Cancer is the leading cause of death in the world today 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We have proposed a methodology to detect cancer using AI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This system will help the radiologists to detect cancer more reliably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In this system we analyse the data input by user and the system will give us a conclusion if the given tumor is malicious or benign.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The data given by user is in the form of image or in the form of textual reports.</a:t>
            </a:r>
            <a:endParaRPr sz="140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>
            <a:spLocks noGrp="1"/>
          </p:cNvSpPr>
          <p:nvPr>
            <p:ph type="title"/>
          </p:nvPr>
        </p:nvSpPr>
        <p:spPr>
          <a:xfrm>
            <a:off x="593075" y="187100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NEED OF PROJECT</a:t>
            </a:r>
            <a:endParaRPr/>
          </a:p>
        </p:txBody>
      </p:sp>
      <p:sp>
        <p:nvSpPr>
          <p:cNvPr id="290" name="Google Shape;290;p15"/>
          <p:cNvSpPr txBox="1">
            <a:spLocks noGrp="1"/>
          </p:cNvSpPr>
          <p:nvPr>
            <p:ph type="body" idx="1"/>
          </p:nvPr>
        </p:nvSpPr>
        <p:spPr>
          <a:xfrm>
            <a:off x="1303800" y="1571100"/>
            <a:ext cx="7030500" cy="296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AI can “see” things that we humans can’t, and can find complex patterns and relationships between very different kinds of data.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The accuracy of AI is reliable enough to be implemented in real life.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AI can be more reliable when it comes to identifying if a tumor is cancerous or not.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This can help radiologists with the identification of tumors.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This can also help the doctors, as AI can help to identify some specific features or symptoms of the tumor.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This can further help doctors to learn about Cancer.</a:t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"/>
          <p:cNvSpPr txBox="1">
            <a:spLocks noGrp="1"/>
          </p:cNvSpPr>
          <p:nvPr>
            <p:ph type="title"/>
          </p:nvPr>
        </p:nvSpPr>
        <p:spPr>
          <a:xfrm>
            <a:off x="546300" y="243200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DEFINITION</a:t>
            </a:r>
            <a:endParaRPr/>
          </a:p>
        </p:txBody>
      </p:sp>
      <p:sp>
        <p:nvSpPr>
          <p:cNvPr id="302" name="Google Shape;302;p17"/>
          <p:cNvSpPr txBox="1">
            <a:spLocks noGrp="1"/>
          </p:cNvSpPr>
          <p:nvPr>
            <p:ph type="body" idx="1"/>
          </p:nvPr>
        </p:nvSpPr>
        <p:spPr>
          <a:xfrm>
            <a:off x="1303800" y="1636575"/>
            <a:ext cx="7030500" cy="289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Cancer is the leading cause of death in the world. 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This disease is characterized by the development of abnormal cells that divide uncontrollably and the ability to infiltrate and destroy normal body tissue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Some general signs and symptoms associated with, but not specific to, cancer, include:</a:t>
            </a:r>
            <a:endParaRPr sz="1500"/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/>
              <a:t>Fatigue.</a:t>
            </a:r>
            <a:endParaRPr sz="1300"/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/>
              <a:t>Lump or area of thickening that can be felt under the skin.</a:t>
            </a:r>
            <a:endParaRPr sz="1300"/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/>
              <a:t>Weight changes, including unintended loss or gain.</a:t>
            </a:r>
            <a:endParaRPr sz="1300"/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300"/>
              <a:t>Changes in bowel or bladder habits</a:t>
            </a:r>
            <a:endParaRPr sz="13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"/>
          <p:cNvSpPr txBox="1">
            <a:spLocks noGrp="1"/>
          </p:cNvSpPr>
          <p:nvPr>
            <p:ph type="title"/>
          </p:nvPr>
        </p:nvSpPr>
        <p:spPr>
          <a:xfrm>
            <a:off x="593075" y="19642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PROPOSED METHODOLOGY</a:t>
            </a:r>
            <a:endParaRPr/>
          </a:p>
        </p:txBody>
      </p:sp>
      <p:sp>
        <p:nvSpPr>
          <p:cNvPr id="308" name="Google Shape;308;p18"/>
          <p:cNvSpPr txBox="1">
            <a:spLocks noGrp="1"/>
          </p:cNvSpPr>
          <p:nvPr>
            <p:ph type="body" idx="1"/>
          </p:nvPr>
        </p:nvSpPr>
        <p:spPr>
          <a:xfrm>
            <a:off x="1303800" y="1281200"/>
            <a:ext cx="7030500" cy="325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/>
              <a:t>The technique used for making this model work </a:t>
            </a:r>
            <a:r>
              <a:rPr lang="en-GB" sz="1400"/>
              <a:t>is Neural </a:t>
            </a:r>
            <a:r>
              <a:rPr lang="en-GB" sz="1400" dirty="0"/>
              <a:t>Network The different stages by which a Neural Network  is applied to the dataset are:</a:t>
            </a:r>
            <a:endParaRPr sz="1400" dirty="0"/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GB" sz="1400" dirty="0"/>
              <a:t>Import the required packages </a:t>
            </a:r>
            <a:endParaRPr sz="14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 dirty="0"/>
              <a:t>Import the data sets</a:t>
            </a:r>
            <a:endParaRPr sz="14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 dirty="0"/>
              <a:t>Image reading is done after that it is </a:t>
            </a:r>
            <a:r>
              <a:rPr lang="en-GB" sz="1400" dirty="0" err="1"/>
              <a:t>labeled</a:t>
            </a:r>
            <a:r>
              <a:rPr lang="en-GB" sz="1400" dirty="0"/>
              <a:t> (such as 0 for benign and 1 for malicious)  and then the reports are stored in the data frame.</a:t>
            </a:r>
            <a:endParaRPr sz="14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 dirty="0"/>
              <a:t>The training sets are designed in a way that the AI algorithm learns from the training sets</a:t>
            </a:r>
            <a:endParaRPr sz="14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 dirty="0"/>
              <a:t>The Accuracy of the System is evaluated</a:t>
            </a:r>
            <a:endParaRPr sz="14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 dirty="0"/>
              <a:t> The loss graph and the accuracy graph are plotted.</a:t>
            </a:r>
            <a:endParaRPr sz="14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9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System Architecture</a:t>
            </a:r>
            <a:endParaRPr/>
          </a:p>
        </p:txBody>
      </p:sp>
      <p:pic>
        <p:nvPicPr>
          <p:cNvPr id="314" name="Google Shape;31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5000" y="1597875"/>
            <a:ext cx="7516099" cy="289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0"/>
          <p:cNvSpPr txBox="1">
            <a:spLocks noGrp="1"/>
          </p:cNvSpPr>
          <p:nvPr>
            <p:ph type="title"/>
          </p:nvPr>
        </p:nvSpPr>
        <p:spPr>
          <a:xfrm>
            <a:off x="583700" y="215150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RESOURCES REQUIRED</a:t>
            </a:r>
            <a:endParaRPr/>
          </a:p>
        </p:txBody>
      </p:sp>
      <p:graphicFrame>
        <p:nvGraphicFramePr>
          <p:cNvPr id="320" name="Google Shape;320;p20"/>
          <p:cNvGraphicFramePr/>
          <p:nvPr/>
        </p:nvGraphicFramePr>
        <p:xfrm>
          <a:off x="952500" y="1619250"/>
          <a:ext cx="7239000" cy="3048000"/>
        </p:xfrm>
        <a:graphic>
          <a:graphicData uri="http://schemas.openxmlformats.org/drawingml/2006/table">
            <a:tbl>
              <a:tblPr>
                <a:noFill/>
                <a:tableStyleId>{5BE553DB-CADC-4A70-93E6-18CDC00BD427}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RAM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8GB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HARD DISK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40GB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BOARD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Standard windows keyboard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MOUSE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Two or three button mouse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MONITOR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LCD/LED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OPERATING SYSTEM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WINDOWS 11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CODING LANGUAGE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PYTHON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EDITOR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PYCHARM OR VS CODE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1"/>
          <p:cNvSpPr txBox="1">
            <a:spLocks noGrp="1"/>
          </p:cNvSpPr>
          <p:nvPr>
            <p:ph type="title"/>
          </p:nvPr>
        </p:nvSpPr>
        <p:spPr>
          <a:xfrm>
            <a:off x="574350" y="243200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 DIAGRAM</a:t>
            </a:r>
            <a:endParaRPr/>
          </a:p>
        </p:txBody>
      </p:sp>
      <p:pic>
        <p:nvPicPr>
          <p:cNvPr id="326" name="Google Shape;32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9825" y="1187700"/>
            <a:ext cx="6337351" cy="385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2"/>
          <p:cNvSpPr txBox="1">
            <a:spLocks noGrp="1"/>
          </p:cNvSpPr>
          <p:nvPr>
            <p:ph type="title"/>
          </p:nvPr>
        </p:nvSpPr>
        <p:spPr>
          <a:xfrm>
            <a:off x="527625" y="2338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 CASE DIAGRAM</a:t>
            </a:r>
            <a:endParaRPr/>
          </a:p>
        </p:txBody>
      </p:sp>
      <p:pic>
        <p:nvPicPr>
          <p:cNvPr id="332" name="Google Shape;33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7500" y="1357525"/>
            <a:ext cx="6254802" cy="360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3"/>
          <p:cNvSpPr txBox="1">
            <a:spLocks noGrp="1"/>
          </p:cNvSpPr>
          <p:nvPr>
            <p:ph type="title"/>
          </p:nvPr>
        </p:nvSpPr>
        <p:spPr>
          <a:xfrm>
            <a:off x="583700" y="1683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 DIAGRAM</a:t>
            </a:r>
            <a:endParaRPr/>
          </a:p>
        </p:txBody>
      </p:sp>
      <p:pic>
        <p:nvPicPr>
          <p:cNvPr id="338" name="Google Shape;338;p23"/>
          <p:cNvPicPr preferRelativeResize="0"/>
          <p:nvPr/>
        </p:nvPicPr>
        <p:blipFill rotWithShape="1">
          <a:blip r:embed="rId3">
            <a:alphaModFix/>
          </a:blip>
          <a:srcRect t="12889" b="11774"/>
          <a:stretch/>
        </p:blipFill>
        <p:spPr>
          <a:xfrm>
            <a:off x="1463925" y="785550"/>
            <a:ext cx="6092350" cy="416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4"/>
          <p:cNvSpPr txBox="1">
            <a:spLocks noGrp="1"/>
          </p:cNvSpPr>
          <p:nvPr>
            <p:ph type="title"/>
          </p:nvPr>
        </p:nvSpPr>
        <p:spPr>
          <a:xfrm>
            <a:off x="583725" y="1683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DFD DIAGRAM: LEVEL 0</a:t>
            </a:r>
            <a:endParaRPr/>
          </a:p>
        </p:txBody>
      </p:sp>
      <p:pic>
        <p:nvPicPr>
          <p:cNvPr id="344" name="Google Shape;34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850" y="1890550"/>
            <a:ext cx="7721850" cy="153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5"/>
          <p:cNvSpPr txBox="1">
            <a:spLocks noGrp="1"/>
          </p:cNvSpPr>
          <p:nvPr>
            <p:ph type="title"/>
          </p:nvPr>
        </p:nvSpPr>
        <p:spPr>
          <a:xfrm>
            <a:off x="602400" y="233850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DFD DIAGRAM: Level 1</a:t>
            </a:r>
            <a:endParaRPr/>
          </a:p>
        </p:txBody>
      </p:sp>
      <p:pic>
        <p:nvPicPr>
          <p:cNvPr id="350" name="Google Shape;35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85550"/>
            <a:ext cx="8839200" cy="3270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9625" y="811300"/>
            <a:ext cx="6462349" cy="384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478</Words>
  <Application>Microsoft Office PowerPoint</Application>
  <PresentationFormat>On-screen Show (16:9)</PresentationFormat>
  <Paragraphs>78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Maven Pro</vt:lpstr>
      <vt:lpstr>Times New Roman</vt:lpstr>
      <vt:lpstr>Nunito</vt:lpstr>
      <vt:lpstr>Arial</vt:lpstr>
      <vt:lpstr>Momentum</vt:lpstr>
      <vt:lpstr>Tumor Detection using AI</vt:lpstr>
      <vt:lpstr>Contents</vt:lpstr>
      <vt:lpstr>INTRODUCTION</vt:lpstr>
      <vt:lpstr>NEED OF PROJECT</vt:lpstr>
      <vt:lpstr>PROBLEM DEFINITION</vt:lpstr>
      <vt:lpstr>PROPOSED METHODOLOGY</vt:lpstr>
      <vt:lpstr>System Architecture</vt:lpstr>
      <vt:lpstr>RESOURCES REQUIRED</vt:lpstr>
      <vt:lpstr>ER DIAGRAM</vt:lpstr>
      <vt:lpstr>USE CASE DIAGRAM</vt:lpstr>
      <vt:lpstr>ACTIVITY DIAGRAM</vt:lpstr>
      <vt:lpstr>DFD DIAGRAM: LEVEL 0</vt:lpstr>
      <vt:lpstr>DFD DIAGRAM: Level 1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Tumor Detection using AI</dc:title>
  <dc:creator>Aryan Jadhav</dc:creator>
  <cp:lastModifiedBy>Aryan Jadhav</cp:lastModifiedBy>
  <cp:revision>1</cp:revision>
  <dcterms:modified xsi:type="dcterms:W3CDTF">2023-03-01T17:48:22Z</dcterms:modified>
</cp:coreProperties>
</file>